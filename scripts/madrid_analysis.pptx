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Available Listings (K)</c:v>
                </c:pt>
              </c:strCache>
            </c:strRef>
          </c:tx>
          <c:spPr>
            <a:solidFill>
              <a:srgbClr val="4C9B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36</c:v>
                </c:pt>
                <c:pt idx="2">
                  <c:v>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Applicants (K)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</c:v>
                </c:pt>
                <c:pt idx="1">
                  <c:v>56</c:v>
                </c:pt>
                <c:pt idx="2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Listing Utilisation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 Rate (%)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74C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35.1</c:v>
                </c:pt>
                <c:pt idx="2">
                  <c:v>28.5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74C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Overall Avg Rent (€/month)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Rent (€/mo)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74C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1099</c:v>
                </c:pt>
                <c:pt idx="1">
                  <c:v>1216</c:v>
                </c:pt>
                <c:pt idx="2">
                  <c:v>1327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E74C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Rent by Listing Type (€/month)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Apartment</c:v>
                </c:pt>
              </c:strCache>
            </c:strRef>
          </c:tx>
          <c:spPr>
            <a:solidFill>
              <a:srgbClr val="F39C12"/>
            </a:solidFill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1687</c:v>
                </c:pt>
                <c:pt idx="1">
                  <c:v>1868</c:v>
                </c:pt>
                <c:pt idx="2">
                  <c:v>2043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Studio</c:v>
                </c:pt>
              </c:strCache>
            </c:strRef>
          </c:tx>
          <c:spPr>
            <a:solidFill>
              <a:srgbClr val="1ABC9C"/>
            </a:solidFill>
            <a:ln w="25400" cap="flat">
              <a:solidFill>
                <a:srgbClr val="1ABC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BC9C"/>
              </a:solidFill>
              <a:ln w="9525" cap="flat">
                <a:solidFill>
                  <a:srgbClr val="1ABC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950</c:v>
                </c:pt>
                <c:pt idx="1">
                  <c:v>1048</c:v>
                </c:pt>
                <c:pt idx="2">
                  <c:v>1146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Room</c:v>
                </c:pt>
              </c:strCache>
            </c:strRef>
          </c:tx>
          <c:spPr>
            <a:solidFill>
              <a:srgbClr val="9B59B6"/>
            </a:solidFill>
            <a:ln w="25400" cap="flat">
              <a:solidFill>
                <a:srgbClr val="9B59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B59B6"/>
              </a:solidFill>
              <a:ln w="9525" cap="flat">
                <a:solidFill>
                  <a:srgbClr val="9B59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660</c:v>
                </c:pt>
                <c:pt idx="1">
                  <c:v>732</c:v>
                </c:pt>
                <c:pt idx="2">
                  <c:v>794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Market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HousingAnywhere Platform Performance  ·  2023–2025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4572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· Part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Performance 2023–2025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top-of-funnel growth - but conversion collapses before booking</a:t>
            </a:r>
            <a:endParaRPr lang="en-US" sz="1400" dirty="0"/>
          </a:p>
        </p:txBody>
      </p:sp>
      <p:pic>
        <p:nvPicPr>
          <p:cNvPr id="4" name="Image 0" descr="/home/claude/chart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7607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8872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1188720"/>
            <a:ext cx="64008" cy="749808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0664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grew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593K → 936K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2057400"/>
            <a:ext cx="64008" cy="7498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103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0664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Searchers grew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0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214K → 318K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292608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2926080"/>
            <a:ext cx="64008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2971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0664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grew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47K → 61K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0" y="379476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17920" y="3794760"/>
            <a:ext cx="64008" cy="7498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840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40664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grew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0" y="4233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11K → 13K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Insight: Visitor growth (+58%) massively outpaces booking growth (+17%) - signalling friction in matching, supply quality, or affordability.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Growth: Earning More Per Booking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2× faster than bookings - driven by higher-value listings and rising rent</a:t>
            </a:r>
            <a:endParaRPr lang="en-US" sz="1400" dirty="0"/>
          </a:p>
        </p:txBody>
      </p:sp>
      <p:pic>
        <p:nvPicPr>
          <p:cNvPr id="4" name="Image 0" descr="/home/claude/chart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526280"/>
            <a:ext cx="20116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38912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+36.6%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 ·  2023→2025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14600" y="4526280"/>
            <a:ext cx="20116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87752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87752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Growth  ·  2023→2025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4526280"/>
            <a:ext cx="20116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36592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36592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Rev/Booking 2023  ·  avg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12280" y="4526280"/>
            <a:ext cx="20116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85432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85432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Rev/Booking 2025  ·  +17% uplift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Seasonality: Academic Calendar Drives Demand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 peaks align with semester starts - summer brings browsers, not bookers</a:t>
            </a:r>
            <a:endParaRPr lang="en-US" sz="1400" dirty="0"/>
          </a:p>
        </p:txBody>
      </p:sp>
      <p:pic>
        <p:nvPicPr>
          <p:cNvPr id="4" name="Image 0" descr="/home/claude/chart_season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7607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88720"/>
            <a:ext cx="265176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5508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Jan / Feb Intake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55080" y="15361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semester start. Average bookings reach 138–146/month - the second strongest period of the year.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2423160"/>
            <a:ext cx="2651760" cy="1097280"/>
          </a:xfrm>
          <a:prstGeom prst="rect">
            <a:avLst/>
          </a:prstGeom>
          <a:solidFill>
            <a:srgbClr val="F0FDFA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2496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Sep / Oct Intake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2770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period. September: 134 avg bookings AND highest visitor traffic (8,680/month).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3657600"/>
            <a:ext cx="265176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3730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The Summer Paradox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40050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peak at 8,600+/month but bookings hit annual lows (62–75). Summer traffic = browsers, not buyers.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vs. Demand: A Growing Mismatch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grew 75% - but listing utilisation dropped from 43% to 28%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1188720"/>
          <a:ext cx="3291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553712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Insight: The challenge in Madrid is no longer supply shortage - it is supply quality. In 2023, 43 in every 100 listings received a booking. By 2025, only 28 did.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Rents: The Affordability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rents rose +21% in two years - pricing out the core student and young professional audience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18872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462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Supply +75%, Rents +21%, but Applicants only +29% → Rising rents are directly contributing to declining utilisation (43%→28%). Tenants browse but can't afford to commit.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Priority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Madrid 2023–2025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0" cy="10972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307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Funnel Conversion Through Listing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listing quality score (completeness, photos, response time, pricing). Prioritise high-scoring listings in search and send landlords optimisation nudges.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606040" cy="438912"/>
          </a:xfrm>
          <a:prstGeom prst="roundRect">
            <a:avLst>
              <a:gd name="adj" fmla="val 12500"/>
            </a:avLst>
          </a:prstGeom>
          <a:solidFill>
            <a:srgbClr val="0E7C7B">
              <a:alpha val="2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5727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~3,000 additional bookings/year from a 5% applicant conversion lift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82296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4C9B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96312"/>
            <a:ext cx="640080" cy="109728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16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5694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Acquisition &amp; Marketing with Academic Calendar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8620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landlord acquisition in May–Jul ahead of the September peak. Launch tenant re-engagement campaigns in Jun–Aug to convert summer browsers into autumn bookings.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2816352"/>
            <a:ext cx="2606040" cy="438912"/>
          </a:xfrm>
          <a:prstGeom prst="roundRect">
            <a:avLst>
              <a:gd name="adj" fmla="val 12500"/>
            </a:avLst>
          </a:prstGeom>
          <a:solidFill>
            <a:srgbClr val="4C9BE8">
              <a:alpha val="20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8346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800+ additional bookings in Sep peak from capturing 10% of summer browsers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58184"/>
            <a:ext cx="8229600" cy="1097280"/>
          </a:xfrm>
          <a:prstGeom prst="rect">
            <a:avLst/>
          </a:prstGeom>
          <a:solidFill>
            <a:srgbClr val="142035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58184"/>
            <a:ext cx="640080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782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38313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Affordability Gap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1239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budget-friendly listing filter. Incentivise landlords to price competitively via featured placement or reduced commission for below-market listings.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4078224"/>
            <a:ext cx="2606040" cy="438912"/>
          </a:xfrm>
          <a:prstGeom prst="roundRect">
            <a:avLst>
              <a:gd name="adj" fmla="val 12500"/>
            </a:avLst>
          </a:prstGeom>
          <a:solidFill>
            <a:srgbClr val="F39C12">
              <a:alpha val="2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0965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Reduces price-driven funnel drop-off and reactivates growing unlisted supply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138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visitor growth (+58%) far outpaces booking growth (+17%) - the funnel is leaking.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2× faster than bookings (€204 → €238 per booking) driven by apartments &amp; property managers.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academic-calendar driven - Sep/Oct and Jan/Feb are the critical windows.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grew +75% but utilisation fell from 43% → 28% - quality and matching are the bottleneck, not quantity.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 rose +21% in two years, creating an affordability gap that is pricing out the core audience.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HousingAnywhere Madrid dataset 2023–2025  ·  Analysis: Python / pandas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Madrid Market Analysis – HousingAnywhere</dc:title>
  <dc:subject>PptxGenJS Presentation</dc:subject>
  <dc:creator>PptxGenJS</dc:creator>
  <cp:lastModifiedBy>PptxGenJS</cp:lastModifiedBy>
  <cp:revision>1</cp:revision>
  <dcterms:created xsi:type="dcterms:W3CDTF">2026-05-31T16:06:40Z</dcterms:created>
  <dcterms:modified xsi:type="dcterms:W3CDTF">2026-05-31T16:06:40Z</dcterms:modified>
</cp:coreProperties>
</file>